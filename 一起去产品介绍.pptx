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312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8702" y="0"/>
            <a:ext cx="109749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5" y="3598379"/>
            <a:ext cx="12191695" cy="3291840"/>
          </a:xfrm>
          <a:prstGeom prst="rect">
            <a:avLst/>
          </a:prstGeom>
          <a:solidFill>
            <a:srgbClr val="111111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D6E8"/>
                </a:solidFill>
                <a:latin typeface="Consolas"/>
              </a:rPr>
              <a:t>COMIC-CON  ·  TRAVEL  · 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143"/>
            <a:ext cx="475416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0" b="1" dirty="0" err="1">
                <a:solidFill>
                  <a:schemeClr val="bg2"/>
                </a:solidFill>
                <a:latin typeface="Microsoft YaHei"/>
              </a:rPr>
              <a:t>一起去</a:t>
            </a:r>
            <a:endParaRPr sz="10400" b="1" dirty="0">
              <a:solidFill>
                <a:schemeClr val="bg2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961" y="6034295"/>
            <a:ext cx="9144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找到同行的人，去同一个漫展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19459" y="6365154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dirty="0" err="1">
                <a:solidFill>
                  <a:srgbClr val="E5E7EB"/>
                </a:solidFill>
                <a:latin typeface="Microsoft YaHei"/>
              </a:rPr>
              <a:t>项目组成员</a:t>
            </a:r>
            <a:r>
              <a:rPr sz="1300" b="0" dirty="0">
                <a:solidFill>
                  <a:srgbClr val="E5E7EB"/>
                </a:solidFill>
                <a:latin typeface="Microsoft YaHei"/>
              </a:rPr>
              <a:t>：</a:t>
            </a:r>
            <a:r>
              <a:rPr lang="zh-CN" altLang="en-US" sz="1300" b="0" dirty="0">
                <a:solidFill>
                  <a:srgbClr val="E5E7EB"/>
                </a:solidFill>
                <a:latin typeface="Microsoft YaHei"/>
              </a:rPr>
              <a:t>赵绪辉 叶峻宏</a:t>
            </a:r>
            <a:r>
              <a:rPr sz="1300" b="0" dirty="0">
                <a:solidFill>
                  <a:srgbClr val="E5E7EB"/>
                </a:solidFill>
                <a:latin typeface="Microsoft YaHei"/>
              </a:rPr>
              <a:t>　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9167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 err="1">
                <a:solidFill>
                  <a:srgbClr val="111111"/>
                </a:solidFill>
                <a:latin typeface="Microsoft YaHei"/>
              </a:rPr>
              <a:t>参加一次漫展，到底有多麻烦</a:t>
            </a:r>
            <a:r>
              <a:rPr sz="4400" b="1" dirty="0">
                <a:solidFill>
                  <a:srgbClr val="111111"/>
                </a:solidFill>
                <a:latin typeface="Microsoft YaHei"/>
              </a:rPr>
              <a:t>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7108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</a:rPr>
              <a:t>找漫展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32304" y="1972253"/>
            <a:ext cx="320040" cy="164592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52928" y="177108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查时间 / 地点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36592" y="1972253"/>
            <a:ext cx="320040" cy="164592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57216" y="177108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找购票渠道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1972253"/>
            <a:ext cx="320040" cy="164592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61504" y="177108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买票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45168" y="1972253"/>
            <a:ext cx="320040" cy="164592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65792" y="177108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找同行者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20172" y="2502606"/>
            <a:ext cx="274320" cy="502920"/>
          </a:xfrm>
          <a:prstGeom prst="down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327984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漫展当天集合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2432304" y="3481014"/>
            <a:ext cx="320040" cy="164592"/>
          </a:xfrm>
          <a:prstGeom prst="lef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52928" y="327984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找住宿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4736592" y="3481014"/>
            <a:ext cx="320040" cy="164592"/>
          </a:xfrm>
          <a:prstGeom prst="lef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57216" y="327984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讨论交通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7040880" y="3481014"/>
            <a:ext cx="320040" cy="164592"/>
          </a:xfrm>
          <a:prstGeom prst="lef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61504" y="327984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确认同行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9345168" y="3481014"/>
            <a:ext cx="320040" cy="164592"/>
          </a:xfrm>
          <a:prstGeom prst="lef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65792" y="327984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0">
                <a:solidFill>
                  <a:srgbClr val="111111"/>
                </a:solidFill>
                <a:latin typeface="Microsoft YaHei"/>
              </a:rPr>
              <a:t>加群 / 发帖 / 私聊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8549640" y="2575758"/>
            <a:ext cx="1417320" cy="384048"/>
          </a:xfrm>
          <a:prstGeom prst="wedgeRoundRectCallout">
            <a:avLst>
              <a:gd name="adj1" fmla="val 60000"/>
              <a:gd name="adj2" fmla="val 0"/>
              <a:gd name="adj3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</a:rPr>
              <a:t>换一个 App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5303520" y="2612334"/>
            <a:ext cx="1417320" cy="384048"/>
          </a:xfrm>
          <a:prstGeom prst="wedgeRoundRectCallout">
            <a:avLst>
              <a:gd name="adj1" fmla="val 0"/>
              <a:gd name="adj2" fmla="val 70000"/>
              <a:gd name="adj3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</a:rPr>
              <a:t>再换一个 App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3127248" y="4337409"/>
            <a:ext cx="1417320" cy="384048"/>
          </a:xfrm>
          <a:prstGeom prst="wedgeRoundRectCallout">
            <a:avLst>
              <a:gd name="adj1" fmla="val 0"/>
              <a:gd name="adj2" fmla="val -70000"/>
              <a:gd name="adj3" fmla="val 16667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 dirty="0" err="1">
                <a:solidFill>
                  <a:srgbClr val="6B7280"/>
                </a:solidFill>
                <a:latin typeface="Microsoft YaHei"/>
              </a:rPr>
              <a:t>又一个</a:t>
            </a:r>
            <a:r>
              <a:rPr sz="1100" dirty="0">
                <a:solidFill>
                  <a:srgbClr val="6B7280"/>
                </a:solidFill>
                <a:latin typeface="Microsoft YaHei"/>
              </a:rPr>
              <a:t>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2344" y="4764023"/>
            <a:ext cx="6434348" cy="1492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0" dirty="0" err="1">
                <a:solidFill>
                  <a:srgbClr val="6B7280"/>
                </a:solidFill>
                <a:latin typeface="Microsoft YaHei"/>
              </a:rPr>
              <a:t>真正麻烦的，不是去漫展</a:t>
            </a:r>
            <a:r>
              <a:rPr sz="3200" b="0" dirty="0">
                <a:solidFill>
                  <a:srgbClr val="6B7280"/>
                </a:solidFill>
                <a:latin typeface="Microsoft YaHei"/>
              </a:rPr>
              <a:t>——</a:t>
            </a:r>
          </a:p>
          <a:p>
            <a:pPr>
              <a:spcBef>
                <a:spcPts val="600"/>
              </a:spcBef>
            </a:pPr>
            <a:r>
              <a:rPr sz="6000" b="1" dirty="0" err="1">
                <a:solidFill>
                  <a:srgbClr val="111111"/>
                </a:solidFill>
              </a:rPr>
              <a:t>而是去漫展之前</a:t>
            </a:r>
            <a:r>
              <a:rPr sz="6000" b="1" dirty="0">
                <a:solidFill>
                  <a:srgbClr val="111111"/>
                </a:solidFill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6605"/>
            <a:ext cx="1109167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dirty="0" err="1">
                <a:solidFill>
                  <a:srgbClr val="111111"/>
                </a:solidFill>
                <a:latin typeface="Microsoft YaHei"/>
              </a:rPr>
              <a:t>工具很多，但流程是散的</a:t>
            </a:r>
            <a:endParaRPr sz="540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7680" y="17099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icrosoft YaHei"/>
              </a:rPr>
              <a:t>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2240" y="17099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Microsoft YaHei"/>
              </a:rPr>
              <a:t>当前解决方式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7680" y="2121408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87680" y="22677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找漫展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2240" y="230428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漫展资讯 / 社交媒体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7680" y="2779776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7680" y="2926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买票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2240" y="296265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官方票务平台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680" y="3438143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7680" y="3584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找同行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2240" y="3621024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QQ / 微信 / 小红书 / B站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7680" y="4096511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7680" y="4242815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交通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2240" y="4279391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地图 / 铁路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680" y="4754879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7680" y="4901183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住宿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2240" y="4937759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携程 / 美团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7680" y="5413247"/>
            <a:ext cx="470916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887" y="5815582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Microsoft YaHei"/>
              </a:rPr>
              <a:t>每个平台都解决了一部分，</a:t>
            </a:r>
          </a:p>
          <a:p>
            <a:r>
              <a:rPr sz="1500">
                <a:solidFill>
                  <a:srgbClr val="6B7280"/>
                </a:solidFill>
              </a:rPr>
              <a:t>但没有一个地方，承接完整的漫展行程。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1709928"/>
            <a:ext cx="0" cy="1444752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79" y="2514600"/>
            <a:ext cx="1691641" cy="64008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732520" y="2514600"/>
            <a:ext cx="2148840" cy="64008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98079" y="3154680"/>
            <a:ext cx="1234441" cy="155448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732520" y="3154680"/>
            <a:ext cx="1691640" cy="155448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80" y="148132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111111"/>
                </a:solidFill>
                <a:latin typeface="Microsoft YaHei"/>
              </a:rPr>
              <a:t>漫展资讯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2860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111111"/>
                </a:solidFill>
                <a:latin typeface="Microsoft YaHei"/>
              </a:rPr>
              <a:t>票务平台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22860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111111"/>
                </a:solidFill>
                <a:latin typeface="Microsoft YaHei"/>
              </a:rPr>
              <a:t>QQ / 小红书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480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111111"/>
                </a:solidFill>
                <a:latin typeface="Microsoft YaHei"/>
              </a:rPr>
              <a:t>地图 / 铁路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4480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111111"/>
                </a:solidFill>
                <a:latin typeface="Microsoft YaHei"/>
              </a:rPr>
              <a:t>携程 / 美团</a:t>
            </a:r>
          </a:p>
        </p:txBody>
      </p:sp>
      <p:sp>
        <p:nvSpPr>
          <p:cNvPr id="32" name="Oval 31"/>
          <p:cNvSpPr/>
          <p:nvPr/>
        </p:nvSpPr>
        <p:spPr>
          <a:xfrm>
            <a:off x="8165592" y="2587752"/>
            <a:ext cx="1133856" cy="11338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一个人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669280"/>
            <a:ext cx="4846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 err="1">
                <a:solidFill>
                  <a:srgbClr val="6B7280"/>
                </a:solidFill>
                <a:latin typeface="Microsoft YaHei"/>
              </a:rPr>
              <a:t>平台之间，没有形成完整的用户旅程</a:t>
            </a:r>
            <a:r>
              <a:rPr sz="1600" b="0" dirty="0">
                <a:solidFill>
                  <a:srgbClr val="6B7280"/>
                </a:solidFill>
                <a:latin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Microsoft YaHei"/>
              </a:rPr>
              <a:t>让漫展成为整个行程的入口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7A90"/>
                </a:solidFill>
                <a:latin typeface="Microsoft YaHei"/>
              </a:rPr>
              <a:t>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3520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11111"/>
                </a:solidFill>
                <a:latin typeface="Microsoft YaHei"/>
              </a:rPr>
              <a:t>以「漫展」为中心，
而不是以某一个功能为中心。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在一个漫展页面里，信息、购票、组团、出行、住宿、行程，全部都在。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07A90"/>
                </a:solidFill>
                <a:latin typeface="Microsoft YaHei"/>
              </a:rPr>
              <a:t>Web 网站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983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07A90"/>
                </a:solidFill>
                <a:latin typeface="Microsoft YaHei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051560"/>
            <a:ext cx="2651760" cy="5394960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03136" y="1325880"/>
            <a:ext cx="2395728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9" y="1554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Microsoft YaHei"/>
              </a:rPr>
              <a:t>CP 漫展 · 上海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947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YaHei"/>
              </a:rPr>
              <a:t>5 月 1 – 2 日 · 国家会展中心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423160"/>
            <a:ext cx="2066543" cy="47548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252374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5420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11111"/>
                </a:solidFill>
                <a:latin typeface="Microsoft YaHei"/>
              </a:rPr>
              <a:t>购票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3026664"/>
            <a:ext cx="2066543" cy="47548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12724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1455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11111"/>
                </a:solidFill>
                <a:latin typeface="Microsoft YaHei"/>
              </a:rPr>
              <a:t>同行组团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8" y="3630168"/>
            <a:ext cx="2066543" cy="47548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373075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7490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11111"/>
                </a:solidFill>
                <a:latin typeface="Microsoft YaHei"/>
              </a:rPr>
              <a:t>出行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4233672"/>
            <a:ext cx="2066543" cy="47548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33425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35254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11111"/>
                </a:solidFill>
                <a:latin typeface="Microsoft YaHei"/>
              </a:rPr>
              <a:t>住宿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4837176"/>
            <a:ext cx="2066543" cy="47548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493776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9560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11111"/>
                </a:solidFill>
                <a:latin typeface="Microsoft YaHei"/>
              </a:rPr>
              <a:t>行程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5577840"/>
            <a:ext cx="2066543" cy="475488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查看同行队伍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0" y="1847088"/>
            <a:ext cx="457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17920" y="4681727"/>
            <a:ext cx="457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26880" y="1847088"/>
            <a:ext cx="4114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4681727"/>
            <a:ext cx="4114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26280" y="1600200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111111"/>
                </a:solidFill>
                <a:latin typeface="Microsoft YaHei"/>
              </a:rPr>
              <a:t>🎫 购票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434840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111111"/>
                </a:solidFill>
                <a:latin typeface="Microsoft YaHei"/>
              </a:rPr>
              <a:t>👥 同行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1600200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111111"/>
                </a:solidFill>
                <a:latin typeface="Microsoft YaHei"/>
              </a:rPr>
              <a:t>🚄 出行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4434840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50" b="1">
                <a:solidFill>
                  <a:srgbClr val="111111"/>
                </a:solidFill>
                <a:latin typeface="Microsoft YaHei"/>
              </a:rPr>
              <a:t>🏨 住宿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192" y="387943"/>
            <a:ext cx="1109167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 err="1">
                <a:solidFill>
                  <a:srgbClr val="111111"/>
                </a:solidFill>
                <a:latin typeface="Microsoft YaHei"/>
              </a:rPr>
              <a:t>一个漫展，串起整个准备过程</a:t>
            </a:r>
            <a:endParaRPr sz="440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58968" y="146304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漫  展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600200" y="1965960"/>
            <a:ext cx="4496104" cy="9144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2880360"/>
            <a:ext cx="210312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31089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7A90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1089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Microsoft YaHe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593591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漫展发现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14800"/>
            <a:ext cx="17007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Microsoft YaHei"/>
              </a:rPr>
              <a:t>漫展列表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城市 / 时间筛选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漫展详情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849624" y="1965960"/>
            <a:ext cx="2246680" cy="9144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98064" y="2880360"/>
            <a:ext cx="210312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31089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7A90"/>
                </a:solidFill>
                <a:latin typeface="Microsoft YaHe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31089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Microsoft YaHei"/>
              </a:rPr>
              <a:t>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593591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购票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114800"/>
            <a:ext cx="17007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Microsoft YaHei"/>
              </a:rPr>
              <a:t>官方购票入口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第三方平台跳转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304" y="1965960"/>
            <a:ext cx="2744" cy="9144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47488" y="2880360"/>
            <a:ext cx="210312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655" y="31089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7A90"/>
                </a:solidFill>
                <a:latin typeface="Microsoft Ya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31089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Microsoft YaHei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3593591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组团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5" y="4114800"/>
            <a:ext cx="17007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Microsoft YaHei"/>
              </a:rPr>
              <a:t>创建 / 加入队伍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人数 · 出发地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出行方式 · 联系方式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304" y="1965960"/>
            <a:ext cx="2252167" cy="9144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296912" y="2880360"/>
            <a:ext cx="210312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79" y="31089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7A90"/>
                </a:solidFill>
                <a:latin typeface="Microsoft YaHe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1089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Microsoft YaHei"/>
              </a:rPr>
              <a:t>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593591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行程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114800"/>
            <a:ext cx="17007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Microsoft YaHei"/>
              </a:rPr>
              <a:t>出行计划 · 集合地点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交通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住宿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304" y="1965960"/>
            <a:ext cx="4501592" cy="91440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546336" y="2880360"/>
            <a:ext cx="210312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47504" y="31089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7A90"/>
                </a:solidFill>
                <a:latin typeface="Microsoft YaHe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3" y="31089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Microsoft YaHe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3593591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Microsoft YaHei"/>
              </a:rPr>
              <a:t>社交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4114800"/>
            <a:ext cx="170078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Microsoft YaHei"/>
              </a:rPr>
              <a:t>同行者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B7280"/>
                </a:solidFill>
              </a:rPr>
              <a:t>队伍交流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Microsoft YaHei"/>
              </a:rPr>
              <a:t>从「我要去漫展」到「我们一起去」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06424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189280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656" y="231343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715768"/>
            <a:ext cx="1188720" cy="53035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713232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" y="3374135"/>
            <a:ext cx="1188720" cy="53035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3447287"/>
            <a:ext cx="713232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4032504"/>
            <a:ext cx="1188720" cy="53035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4105656"/>
            <a:ext cx="713232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2007108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① 首页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57984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15768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0" y="1892807"/>
            <a:ext cx="1188720" cy="777240"/>
          </a:xfrm>
          <a:prstGeom prst="rect">
            <a:avLst/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86000" y="2834640"/>
            <a:ext cx="950976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86000" y="3081528"/>
            <a:ext cx="653796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286000" y="34747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286000" y="40690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加入队伍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16452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57984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② 漫展详情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25112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895344" y="1892807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95344" y="2286000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297680" y="2304288"/>
            <a:ext cx="786384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97680" y="2468880"/>
            <a:ext cx="59436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95344" y="2889504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97680" y="2907792"/>
            <a:ext cx="786384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97680" y="3072384"/>
            <a:ext cx="59436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95344" y="3493008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97680" y="3511296"/>
            <a:ext cx="786384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7680" y="3675888"/>
            <a:ext cx="59436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95344" y="4096512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97680" y="4114800"/>
            <a:ext cx="786384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97680" y="4279392"/>
            <a:ext cx="59436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ight Arrow 38"/>
          <p:cNvSpPr/>
          <p:nvPr/>
        </p:nvSpPr>
        <p:spPr>
          <a:xfrm>
            <a:off x="5225796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67328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③ 队伍列表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2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934456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779008" y="2057400"/>
            <a:ext cx="640080" cy="640080"/>
          </a:xfrm>
          <a:prstGeom prst="ellipse">
            <a:avLst/>
          </a:prstGeom>
          <a:solidFill>
            <a:srgbClr val="C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504688" y="2971800"/>
            <a:ext cx="118872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687568" y="3227832"/>
            <a:ext cx="713232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504688" y="36118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504688" y="42976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确认加入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835140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76672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④ 加入队伍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86016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543800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114031" y="1892807"/>
            <a:ext cx="653796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114031" y="2167128"/>
            <a:ext cx="832103" cy="31089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470648" y="2587752"/>
            <a:ext cx="832103" cy="310896"/>
          </a:xfrm>
          <a:prstGeom prst="roundRect">
            <a:avLst>
              <a:gd name="adj" fmla="val 50000"/>
            </a:avLst>
          </a:prstGeom>
          <a:solidFill>
            <a:srgbClr val="C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114031" y="3008376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470648" y="3429000"/>
            <a:ext cx="832103" cy="310896"/>
          </a:xfrm>
          <a:prstGeom prst="roundRect">
            <a:avLst>
              <a:gd name="adj" fmla="val 50000"/>
            </a:avLst>
          </a:prstGeom>
          <a:solidFill>
            <a:srgbClr val="C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114031" y="42976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同行确认 ✓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8444484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86016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⑤ 与队友确认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5360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153144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723376" y="1892807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814816" y="2331720"/>
            <a:ext cx="164592" cy="164592"/>
          </a:xfrm>
          <a:prstGeom prst="ellipse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883396" y="2514600"/>
            <a:ext cx="27432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107424" y="2313432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107424" y="2478024"/>
            <a:ext cx="47548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814816" y="2898648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883396" y="3081528"/>
            <a:ext cx="27432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9107424" y="2880360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107424" y="3044952"/>
            <a:ext cx="47548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814816" y="34655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883396" y="3648456"/>
            <a:ext cx="27432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107424" y="3447288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107424" y="3611880"/>
            <a:ext cx="47548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814816" y="4032504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107424" y="4014216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9107424" y="4178808"/>
            <a:ext cx="47548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ight Arrow 77"/>
          <p:cNvSpPr/>
          <p:nvPr/>
        </p:nvSpPr>
        <p:spPr>
          <a:xfrm>
            <a:off x="10053828" y="3218688"/>
            <a:ext cx="137160" cy="14630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95360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⑥ 查看行程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204704" y="1600200"/>
            <a:ext cx="1444752" cy="338328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762488" y="169164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469880" y="2286000"/>
            <a:ext cx="914400" cy="914400"/>
          </a:xfrm>
          <a:prstGeom prst="ellipse">
            <a:avLst/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007A90"/>
                </a:solidFill>
              </a:rPr>
              <a:t>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332720" y="3520440"/>
            <a:ext cx="118872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469880" y="3776472"/>
            <a:ext cx="832103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332720" y="42519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出发 !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04704" y="5148072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Microsoft YaHei"/>
              </a:rPr>
              <a:t>⑦ 一起出发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Microsoft YaHei"/>
              </a:rPr>
              <a:t>* 线框示意图 —— UI 设计稿完成后，可直接替换为真实截图。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67710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 err="1">
                <a:solidFill>
                  <a:srgbClr val="111111"/>
                </a:solidFill>
                <a:latin typeface="Microsoft YaHei"/>
              </a:rPr>
              <a:t>我们希望它看起来，也像一个真正的产品</a:t>
            </a:r>
            <a:endParaRPr sz="440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188720" y="1554480"/>
            <a:ext cx="1737360" cy="306324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92807" y="164592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44168" y="1828800"/>
            <a:ext cx="1426463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44168" y="2212848"/>
            <a:ext cx="1426463" cy="256032"/>
          </a:xfrm>
          <a:prstGeom prst="roundRect">
            <a:avLst>
              <a:gd name="adj" fmla="val 50000"/>
            </a:avLst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44168" y="2633472"/>
            <a:ext cx="1426463" cy="457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17320" y="2706624"/>
            <a:ext cx="784555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44168" y="3200400"/>
            <a:ext cx="1426463" cy="457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17320" y="3273552"/>
            <a:ext cx="784555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44168" y="3767328"/>
            <a:ext cx="1426463" cy="457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3840480"/>
            <a:ext cx="784555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Microsoft YaHei"/>
              </a:rPr>
              <a:t>首页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554480"/>
            <a:ext cx="1737360" cy="306324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04488" y="164592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5848" y="1828800"/>
            <a:ext cx="1426463" cy="822960"/>
          </a:xfrm>
          <a:prstGeom prst="rect">
            <a:avLst/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55848" y="2834639"/>
            <a:ext cx="1069848" cy="13716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55848" y="3072384"/>
            <a:ext cx="713231" cy="13716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55848" y="3657600"/>
            <a:ext cx="1426463" cy="310896"/>
          </a:xfrm>
          <a:prstGeom prst="roundRect">
            <a:avLst>
              <a:gd name="adj" fmla="val 50000"/>
            </a:avLst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加入队伍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54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Microsoft YaHei"/>
              </a:rPr>
              <a:t>漫展详情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1554480"/>
            <a:ext cx="1737360" cy="306324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16168" y="164592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67527" y="1965960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88151" y="1984248"/>
            <a:ext cx="1005839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88151" y="2148840"/>
            <a:ext cx="64190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67527" y="2532888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88151" y="2551176"/>
            <a:ext cx="1005839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88151" y="2715768"/>
            <a:ext cx="64190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67527" y="3099815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788151" y="3118103"/>
            <a:ext cx="1005839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88151" y="3282696"/>
            <a:ext cx="64190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67527" y="3666744"/>
            <a:ext cx="310896" cy="310896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788151" y="3685031"/>
            <a:ext cx="1005839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788151" y="3849624"/>
            <a:ext cx="641908" cy="10058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12079" y="4754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Microsoft YaHei"/>
              </a:rPr>
              <a:t>队伍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59" y="1554480"/>
            <a:ext cx="1737360" cy="306324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927848" y="164592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70648" y="2011680"/>
            <a:ext cx="155448" cy="155448"/>
          </a:xfrm>
          <a:prstGeom prst="ellipse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30083" y="2185416"/>
            <a:ext cx="27432" cy="365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44968" y="1993392"/>
            <a:ext cx="987551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44968" y="2148840"/>
            <a:ext cx="542056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470648" y="2560320"/>
            <a:ext cx="155448" cy="155448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30083" y="2734056"/>
            <a:ext cx="27432" cy="365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44968" y="2542032"/>
            <a:ext cx="987551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744968" y="2697480"/>
            <a:ext cx="542056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470648" y="3108960"/>
            <a:ext cx="155448" cy="155448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30083" y="3282696"/>
            <a:ext cx="27432" cy="365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44968" y="3090672"/>
            <a:ext cx="987551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744968" y="3246120"/>
            <a:ext cx="542056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470648" y="3657600"/>
            <a:ext cx="155448" cy="155448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744968" y="3639312"/>
            <a:ext cx="987551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44968" y="3794760"/>
            <a:ext cx="542056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59" y="4754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Microsoft YaHei"/>
              </a:rPr>
              <a:t>行程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35440" y="1554480"/>
            <a:ext cx="1737360" cy="306324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939528" y="1645920"/>
            <a:ext cx="329184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811511" y="1938528"/>
            <a:ext cx="585216" cy="585216"/>
          </a:xfrm>
          <a:prstGeom prst="ellipse">
            <a:avLst/>
          </a:prstGeom>
          <a:solidFill>
            <a:srgbClr val="C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665208" y="2697480"/>
            <a:ext cx="570585" cy="13716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390888" y="3063239"/>
            <a:ext cx="1426463" cy="23774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390888" y="3447287"/>
            <a:ext cx="1426463" cy="23774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390888" y="3831335"/>
            <a:ext cx="1426463" cy="23774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0" y="47548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Microsoft YaHei"/>
              </a:rPr>
              <a:t>个人中心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16735" y="5536692"/>
            <a:ext cx="128016" cy="128016"/>
          </a:xfrm>
          <a:prstGeom prst="rect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572767" y="54361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Microsoft YaHei"/>
              </a:rPr>
              <a:t>信息优先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2767" y="57835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打开就能看到漫展与队伍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47487" y="5536692"/>
            <a:ext cx="128016" cy="128016"/>
          </a:xfrm>
          <a:prstGeom prst="rect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19" y="54361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Microsoft YaHei"/>
              </a:rPr>
              <a:t>降低操作成本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19" y="57835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三步以内完成一次组团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39" y="5536692"/>
            <a:ext cx="128016" cy="128016"/>
          </a:xfrm>
          <a:prstGeom prst="rect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34270" y="54361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Microsoft YaHei"/>
              </a:rPr>
              <a:t>同行关系一目了然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0" y="57835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谁去、怎么去、在哪集合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V1.0  →  V1.1  → 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9CA3AD"/>
                </a:solidFill>
                <a:latin typeface="Microsoft YaHei"/>
              </a:rPr>
              <a:t>两个人也能做完的节奏：从</a:t>
            </a:r>
            <a:r>
              <a:rPr lang="en-US" altLang="zh-CN" sz="1400" b="0" dirty="0" err="1">
                <a:solidFill>
                  <a:srgbClr val="9CA3AD"/>
                </a:solidFill>
                <a:latin typeface="Microsoft YaHei"/>
              </a:rPr>
              <a:t>MVP</a:t>
            </a:r>
            <a:r>
              <a:rPr sz="1400" b="0" dirty="0" err="1">
                <a:solidFill>
                  <a:srgbClr val="9CA3AD"/>
                </a:solidFill>
                <a:latin typeface="Microsoft YaHei"/>
              </a:rPr>
              <a:t>开始，而不是一上来就做「超级</a:t>
            </a:r>
            <a:r>
              <a:rPr sz="1400" b="0" dirty="0">
                <a:solidFill>
                  <a:srgbClr val="9CA3AD"/>
                </a:solidFill>
                <a:latin typeface="Microsoft YaHei"/>
              </a:rPr>
              <a:t> App」。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3511296" cy="3931920"/>
          </a:xfrm>
          <a:prstGeom prst="rect">
            <a:avLst/>
          </a:prstGeom>
          <a:solidFill>
            <a:srgbClr val="1B1F24"/>
          </a:solidFill>
          <a:ln w="19050">
            <a:solidFill>
              <a:srgbClr val="00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3AD6E8"/>
                </a:solidFill>
                <a:latin typeface="Consolas"/>
              </a:rPr>
              <a:t>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AD6E8"/>
                </a:solidFill>
                <a:latin typeface="Consolas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918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只解决最核心的问题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94760"/>
            <a:ext cx="2962656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dirty="0">
                <a:solidFill>
                  <a:srgbClr val="FFFFFF"/>
                </a:solidFill>
                <a:latin typeface="Microsoft YaHei"/>
              </a:rPr>
              <a:t>·  </a:t>
            </a:r>
            <a:r>
              <a:rPr sz="1300" b="0" dirty="0" err="1">
                <a:solidFill>
                  <a:srgbClr val="FFFFFF"/>
                </a:solidFill>
                <a:latin typeface="Microsoft YaHei"/>
              </a:rPr>
              <a:t>漫展发现</a:t>
            </a:r>
            <a:endParaRPr sz="1300" b="0" dirty="0">
              <a:solidFill>
                <a:srgbClr val="FFFFFF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·  </a:t>
            </a:r>
            <a:r>
              <a:rPr sz="1300" dirty="0" err="1">
                <a:solidFill>
                  <a:srgbClr val="FFFFFF"/>
                </a:solidFill>
              </a:rPr>
              <a:t>漫展详情</a:t>
            </a:r>
            <a:endParaRPr sz="13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·  </a:t>
            </a:r>
            <a:r>
              <a:rPr sz="1300" dirty="0" err="1">
                <a:solidFill>
                  <a:srgbClr val="FFFFFF"/>
                </a:solidFill>
              </a:rPr>
              <a:t>购票跳转</a:t>
            </a:r>
            <a:endParaRPr sz="13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·  </a:t>
            </a:r>
            <a:r>
              <a:rPr sz="1300" dirty="0" err="1">
                <a:solidFill>
                  <a:srgbClr val="FFFFFF"/>
                </a:solidFill>
              </a:rPr>
              <a:t>创建</a:t>
            </a:r>
            <a:r>
              <a:rPr sz="1300" dirty="0">
                <a:solidFill>
                  <a:srgbClr val="FFFFFF"/>
                </a:solidFill>
              </a:rPr>
              <a:t> / </a:t>
            </a:r>
            <a:r>
              <a:rPr sz="1300" dirty="0" err="1">
                <a:solidFill>
                  <a:srgbClr val="FFFFFF"/>
                </a:solidFill>
              </a:rPr>
              <a:t>加入队伍</a:t>
            </a:r>
            <a:endParaRPr sz="13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·  </a:t>
            </a:r>
            <a:r>
              <a:rPr sz="1300" dirty="0" err="1">
                <a:solidFill>
                  <a:srgbClr val="FFFFFF"/>
                </a:solidFill>
              </a:rPr>
              <a:t>查看队伍</a:t>
            </a: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16935" y="23774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A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11111"/>
                </a:solidFill>
                <a:latin typeface="Microsoft YaHei"/>
              </a:rP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3" y="374904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4B5560"/>
                </a:solidFill>
                <a:latin typeface="Consola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2057400"/>
            <a:ext cx="3511296" cy="3931920"/>
          </a:xfrm>
          <a:prstGeom prst="rect">
            <a:avLst/>
          </a:prstGeom>
          <a:solidFill>
            <a:srgbClr val="1B1F24"/>
          </a:solidFill>
          <a:ln w="12700">
            <a:solidFill>
              <a:srgbClr val="30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331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V1.1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onsolas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918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把体验补完整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794760"/>
            <a:ext cx="2962656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E5E7EB"/>
                </a:solidFill>
                <a:latin typeface="Microsoft YaHei"/>
              </a:rPr>
              <a:t>·  更完整 UI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行程管理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出行信息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用户画像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更完善的组团机制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更好的交互体验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374904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4B5560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2057400"/>
            <a:ext cx="3511296" cy="3931920"/>
          </a:xfrm>
          <a:prstGeom prst="rect">
            <a:avLst/>
          </a:prstGeom>
          <a:solidFill>
            <a:srgbClr val="1B1F24"/>
          </a:solidFill>
          <a:ln w="12700">
            <a:solidFill>
              <a:srgbClr val="303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233172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926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onsolas"/>
              </a:rPr>
              <a:t>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2918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icrosoft YaHei"/>
              </a:rPr>
              <a:t>从一个漫展，到更多场景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94760"/>
            <a:ext cx="2962656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E5E7EB"/>
                </a:solidFill>
                <a:latin typeface="Microsoft YaHei"/>
              </a:rPr>
              <a:t>·  住宿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交通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同行推荐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智能行程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更多可能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E7EB"/>
                </a:solidFill>
              </a:rPr>
              <a:t>·  商业化模式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dirty="0">
                <a:solidFill>
                  <a:srgbClr val="111111"/>
                </a:solidFill>
                <a:latin typeface="Microsoft YaHei"/>
              </a:rPr>
              <a:t>从 </a:t>
            </a:r>
            <a:r>
              <a:rPr sz="4800" b="1" dirty="0" err="1">
                <a:solidFill>
                  <a:srgbClr val="111111"/>
                </a:solidFill>
                <a:latin typeface="Microsoft YaHei"/>
              </a:rPr>
              <a:t>Concept，到真正的「一起去</a:t>
            </a:r>
            <a:r>
              <a:rPr sz="4800" b="1" dirty="0">
                <a:solidFill>
                  <a:srgbClr val="111111"/>
                </a:solidFill>
                <a:latin typeface="Microsoft YaHei"/>
              </a:rPr>
              <a:t>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3749039"/>
            <a:ext cx="9921240" cy="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43000" y="3749039"/>
            <a:ext cx="3017520" cy="0"/>
          </a:xfrm>
          <a:prstGeom prst="line">
            <a:avLst/>
          </a:prstGeom>
          <a:ln w="25400">
            <a:solidFill>
              <a:srgbClr val="00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584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24911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7238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概念</a:t>
            </a:r>
          </a:p>
        </p:txBody>
      </p:sp>
      <p:sp>
        <p:nvSpPr>
          <p:cNvPr id="9" name="Oval 8"/>
          <p:cNvSpPr/>
          <p:nvPr/>
        </p:nvSpPr>
        <p:spPr>
          <a:xfrm>
            <a:off x="242316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79" y="4069079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79" y="44622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79" y="48097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原型</a:t>
            </a:r>
          </a:p>
        </p:txBody>
      </p:sp>
      <p:sp>
        <p:nvSpPr>
          <p:cNvPr id="13" name="Oval 12"/>
          <p:cNvSpPr/>
          <p:nvPr/>
        </p:nvSpPr>
        <p:spPr>
          <a:xfrm>
            <a:off x="3840479" y="3611879"/>
            <a:ext cx="274320" cy="274320"/>
          </a:xfrm>
          <a:prstGeom prst="ellipse">
            <a:avLst/>
          </a:prstGeom>
          <a:solidFill>
            <a:srgbClr val="00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399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399" y="2724911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399" y="307238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首个版本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069079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622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V1.1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8097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体验完整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724911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小规模测试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07238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TEST</a:t>
            </a:r>
          </a:p>
        </p:txBody>
      </p:sp>
      <p:sp>
        <p:nvSpPr>
          <p:cNvPr id="25" name="Oval 24"/>
          <p:cNvSpPr/>
          <p:nvPr/>
        </p:nvSpPr>
        <p:spPr>
          <a:xfrm>
            <a:off x="809244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4069079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622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用户反馈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8097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FEEDBACK</a:t>
            </a:r>
          </a:p>
        </p:txBody>
      </p:sp>
      <p:sp>
        <p:nvSpPr>
          <p:cNvPr id="29" name="Oval 28"/>
          <p:cNvSpPr/>
          <p:nvPr/>
        </p:nvSpPr>
        <p:spPr>
          <a:xfrm>
            <a:off x="950976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23317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724911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正式迭代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07238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ITERATE</a:t>
            </a:r>
          </a:p>
        </p:txBody>
      </p:sp>
      <p:sp>
        <p:nvSpPr>
          <p:cNvPr id="33" name="Oval 32"/>
          <p:cNvSpPr/>
          <p:nvPr/>
        </p:nvSpPr>
        <p:spPr>
          <a:xfrm>
            <a:off x="10927080" y="3611879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87000" y="4069079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446227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Microsoft YaHei"/>
              </a:rPr>
              <a:t>更多城市 · 漫展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8097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onsolas"/>
              </a:rPr>
              <a:t>EXPAND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Microsoft YaHei"/>
              </a:rPr>
              <a:t>各阶段时间待定 —— 确定节奏后，为每个节点补上日期。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dirty="0" err="1">
                <a:solidFill>
                  <a:srgbClr val="111111"/>
                </a:solidFill>
                <a:latin typeface="Microsoft YaHei"/>
              </a:rPr>
              <a:t>从想法，到真正运行</a:t>
            </a:r>
            <a:endParaRPr sz="480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12" y="1325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Microsoft YaHei"/>
              </a:rPr>
              <a:t>不是一个</a:t>
            </a:r>
            <a:r>
              <a:rPr sz="1400" b="0" dirty="0">
                <a:solidFill>
                  <a:srgbClr val="6B7280"/>
                </a:solidFill>
                <a:latin typeface="Microsoft YaHei"/>
              </a:rPr>
              <a:t> PPT </a:t>
            </a:r>
            <a:r>
              <a:rPr sz="1400" b="0" dirty="0" err="1">
                <a:solidFill>
                  <a:srgbClr val="6B7280"/>
                </a:solidFill>
                <a:latin typeface="Microsoft YaHei"/>
              </a:rPr>
              <a:t>概念</a:t>
            </a:r>
            <a:r>
              <a:rPr sz="1400" b="0" dirty="0">
                <a:solidFill>
                  <a:srgbClr val="6B7280"/>
                </a:solidFill>
                <a:latin typeface="Microsoft YaHei"/>
              </a:rPr>
              <a:t> —— </a:t>
            </a:r>
            <a:r>
              <a:rPr sz="1400" b="0" dirty="0" err="1">
                <a:solidFill>
                  <a:srgbClr val="6B7280"/>
                </a:solidFill>
                <a:latin typeface="Microsoft YaHei"/>
              </a:rPr>
              <a:t>它会是一个能跑起来的</a:t>
            </a:r>
            <a:r>
              <a:rPr sz="1400" b="0" dirty="0">
                <a:solidFill>
                  <a:srgbClr val="6B7280"/>
                </a:solidFill>
                <a:latin typeface="Microsoft YaHei"/>
              </a:rPr>
              <a:t> Web + App。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18888" y="17373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「一起去」产品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200400" y="2286000"/>
            <a:ext cx="2895904" cy="59436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304" y="2286000"/>
            <a:ext cx="2744" cy="59436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6304" y="2286000"/>
            <a:ext cx="2892248" cy="59436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11680" y="288036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chemeClr val="tx1"/>
                </a:solidFill>
              </a:rPr>
              <a:t>前端</a:t>
            </a:r>
            <a:endParaRPr sz="15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10328" y="288036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chemeClr val="tx1"/>
                </a:solidFill>
              </a:rPr>
              <a:t>后端</a:t>
            </a:r>
            <a:endParaRPr sz="15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99831" y="288036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chemeClr val="tx1"/>
                </a:solidFill>
              </a:rPr>
              <a:t>数据库</a:t>
            </a:r>
            <a:endParaRPr sz="1500" b="1" dirty="0">
              <a:solidFill>
                <a:schemeClr val="tx1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52044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304" y="352044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88552" y="352044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11680" y="3794760"/>
            <a:ext cx="8165592" cy="548640"/>
          </a:xfrm>
          <a:prstGeom prst="rect">
            <a:avLst/>
          </a:prstGeom>
          <a:solidFill>
            <a:srgbClr val="E9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7A90"/>
                </a:solidFill>
              </a:rPr>
              <a:t>API / 数据层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34340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434340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8552" y="4343400"/>
            <a:ext cx="0" cy="27432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11680" y="46177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6B7280"/>
                </a:solidFill>
              </a:rPr>
              <a:t>漫展数据（第三方）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46177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6B7280"/>
                </a:solidFill>
              </a:rPr>
              <a:t>地图 / 交通（第三方）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831" y="46177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6B7280"/>
                </a:solidFill>
              </a:rPr>
              <a:t>票务跳转（第三方）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4709160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latin typeface="Microsoft YaHei"/>
              </a:rPr>
              <a:t>外部能力</a:t>
            </a:r>
            <a:endParaRPr sz="1600" b="0" dirty="0">
              <a:latin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496311" y="5477751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6B7280"/>
                </a:solidFill>
                <a:latin typeface="Microsoft YaHei"/>
              </a:rPr>
              <a:t>前端框架 · 待定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1" y="5477751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6B7280"/>
                </a:solidFill>
                <a:latin typeface="Microsoft YaHei"/>
              </a:rPr>
              <a:t>后端框架 · 待定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1" y="5477751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6B7280"/>
                </a:solidFill>
                <a:latin typeface="Microsoft YaHei"/>
              </a:rPr>
              <a:t>数据库选型 · 待定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1" y="5477751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6B7280"/>
                </a:solidFill>
                <a:latin typeface="Microsoft YaHei"/>
              </a:rPr>
              <a:t>部署方式 · 待定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8988" y="6196790"/>
            <a:ext cx="81655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6B7280"/>
                </a:solidFill>
                <a:latin typeface="Microsoft YaHei"/>
              </a:rPr>
              <a:t>具体技术栈将随原型开发一起确定</a:t>
            </a:r>
            <a:r>
              <a:rPr sz="1200" b="0" dirty="0">
                <a:solidFill>
                  <a:srgbClr val="6B7280"/>
                </a:solidFill>
                <a:latin typeface="Microsoft YaHei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09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A4E8A91-89E6-DB0F-16C2-4C458E99174D}"/>
              </a:ext>
            </a:extLst>
          </p:cNvPr>
          <p:cNvSpPr txBox="1"/>
          <p:nvPr/>
        </p:nvSpPr>
        <p:spPr>
          <a:xfrm>
            <a:off x="8204886" y="1046617"/>
            <a:ext cx="30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Vibe coding</a:t>
            </a:r>
            <a:r>
              <a:rPr lang="zh-CN" altLang="en-US" b="1" dirty="0"/>
              <a:t>为主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75488"/>
            <a:ext cx="1109167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 err="1">
                <a:solidFill>
                  <a:srgbClr val="111111"/>
                </a:solidFill>
                <a:latin typeface="Microsoft YaHei"/>
              </a:rPr>
              <a:t>真正落地之前，还有这些问题</a:t>
            </a:r>
            <a:endParaRPr sz="440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9856" y="1622501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7A90"/>
                </a:solidFill>
                <a:latin typeface="Microsoft YaHei"/>
              </a:rPr>
              <a:t>破冰</a:t>
            </a:r>
            <a:endParaRPr sz="2800" b="1" dirty="0">
              <a:solidFill>
                <a:srgbClr val="007A90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1640" y="2194560"/>
            <a:ext cx="242316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，第一批用户从哪来？</a:t>
            </a:r>
            <a:endParaRPr sz="165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4456" y="150876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 dirty="0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5672" y="1636217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007A90"/>
                </a:solidFill>
                <a:latin typeface="Microsoft YaHei"/>
              </a:rPr>
              <a:t>票务</a:t>
            </a:r>
            <a:endParaRPr sz="2800" b="1" dirty="0">
              <a:solidFill>
                <a:srgbClr val="007A90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87456" y="2194560"/>
            <a:ext cx="242316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不同票务平台如何跳转？</a:t>
            </a:r>
            <a:endParaRPr lang="en-US" altLang="zh-CN" sz="165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+mj-ea"/>
                <a:ea typeface="+mj-ea"/>
              </a:rPr>
              <a:t>接入票务平台</a:t>
            </a:r>
            <a:r>
              <a:rPr lang="en-US" altLang="zh-CN" sz="1650" b="1" dirty="0" err="1">
                <a:solidFill>
                  <a:srgbClr val="111111"/>
                </a:solidFill>
                <a:latin typeface="+mj-ea"/>
                <a:ea typeface="+mj-ea"/>
              </a:rPr>
              <a:t>api</a:t>
            </a:r>
            <a:endParaRPr lang="en-US" altLang="zh-CN" sz="1650" b="1" dirty="0">
              <a:solidFill>
                <a:srgbClr val="111111"/>
              </a:solidFill>
              <a:latin typeface="+mj-ea"/>
              <a:ea typeface="+mj-ea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+mj-ea"/>
                <a:ea typeface="+mj-ea"/>
              </a:rPr>
              <a:t>或者只提供购票链接</a:t>
            </a:r>
            <a:endParaRPr sz="1650" b="1" dirty="0">
              <a:solidFill>
                <a:srgbClr val="111111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10144" y="150876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2825" y="1636217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007A90"/>
                </a:solidFill>
                <a:latin typeface="Microsoft YaHei"/>
              </a:rPr>
              <a:t>组团</a:t>
            </a:r>
            <a:endParaRPr sz="2800" b="1" dirty="0">
              <a:solidFill>
                <a:srgbClr val="007A90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53144" y="2194560"/>
            <a:ext cx="2423160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 err="1">
                <a:solidFill>
                  <a:srgbClr val="111111"/>
                </a:solidFill>
                <a:latin typeface="Microsoft YaHei"/>
              </a:rPr>
              <a:t>陌生人之间如何安全组团</a:t>
            </a:r>
            <a:r>
              <a:rPr sz="1650" b="1" dirty="0">
                <a:solidFill>
                  <a:srgbClr val="111111"/>
                </a:solidFill>
                <a:latin typeface="Microsoft YaHei"/>
              </a:rPr>
              <a:t>？</a:t>
            </a:r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实名制</a:t>
            </a: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信用分制</a:t>
            </a:r>
          </a:p>
          <a:p>
            <a:pPr algn="l"/>
            <a:endParaRPr sz="165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9856" y="3803905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007A90"/>
                </a:solidFill>
                <a:latin typeface="Microsoft YaHei"/>
              </a:rPr>
              <a:t>隐私</a:t>
            </a:r>
            <a:endParaRPr sz="2800" b="1" dirty="0">
              <a:solidFill>
                <a:srgbClr val="007A90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1640" y="4343400"/>
            <a:ext cx="2423160" cy="126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 err="1">
                <a:solidFill>
                  <a:srgbClr val="111111"/>
                </a:solidFill>
                <a:latin typeface="Microsoft YaHei"/>
              </a:rPr>
              <a:t>联系方式如何保护</a:t>
            </a:r>
            <a:r>
              <a:rPr sz="1650" b="1" dirty="0">
                <a:solidFill>
                  <a:srgbClr val="111111"/>
                </a:solidFill>
                <a:latin typeface="Microsoft YaHei"/>
              </a:rPr>
              <a:t>？</a:t>
            </a:r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平台隐藏真实号码</a:t>
            </a:r>
            <a:endParaRPr lang="en-US" altLang="zh-CN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只提供一种联系方式</a:t>
            </a:r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4456" y="365760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7456" y="3798897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007A90"/>
                </a:solidFill>
                <a:latin typeface="Microsoft YaHei"/>
              </a:rPr>
              <a:t>数据</a:t>
            </a:r>
            <a:endParaRPr sz="2800" b="1" dirty="0">
              <a:solidFill>
                <a:srgbClr val="007A90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87456" y="4343400"/>
            <a:ext cx="2423160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 err="1">
                <a:solidFill>
                  <a:srgbClr val="111111"/>
                </a:solidFill>
                <a:latin typeface="Microsoft YaHei"/>
              </a:rPr>
              <a:t>漫展取消、延期、场地变化怎么办</a:t>
            </a:r>
            <a:r>
              <a:rPr sz="1650" b="1" dirty="0">
                <a:solidFill>
                  <a:srgbClr val="111111"/>
                </a:solidFill>
                <a:latin typeface="Microsoft YaHei"/>
              </a:rPr>
              <a:t>？</a:t>
            </a:r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事先平台服务条款写明</a:t>
            </a:r>
            <a:endParaRPr lang="en-US" altLang="zh-CN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预留解决弹性</a:t>
            </a:r>
            <a:endParaRPr lang="en-US" altLang="zh-CN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信息变更实时发送信息</a:t>
            </a:r>
            <a:endParaRPr sz="165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10144" y="3657600"/>
            <a:ext cx="1005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>
                <a:solidFill>
                  <a:srgbClr val="CFEAF0"/>
                </a:solidFill>
                <a:latin typeface="Microsoft YaHei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3789628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7A90"/>
                </a:solidFill>
                <a:latin typeface="Microsoft YaHei"/>
              </a:rPr>
              <a:t>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4343400"/>
            <a:ext cx="242316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两个人如何控制项目规模？</a:t>
            </a:r>
            <a:endParaRPr lang="en-US" altLang="zh-CN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endParaRPr lang="en-US" sz="1650" b="1" dirty="0">
              <a:solidFill>
                <a:srgbClr val="111111"/>
              </a:solidFill>
              <a:latin typeface="Microsoft YaHei"/>
            </a:endParaRP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一开始只做</a:t>
            </a:r>
            <a:r>
              <a:rPr lang="en-US" altLang="zh-CN" sz="1650" b="1" dirty="0">
                <a:solidFill>
                  <a:srgbClr val="111111"/>
                </a:solidFill>
                <a:latin typeface="Microsoft YaHei"/>
              </a:rPr>
              <a:t>MVP</a:t>
            </a:r>
          </a:p>
          <a:p>
            <a:pPr algn="l"/>
            <a:r>
              <a:rPr lang="zh-CN" altLang="en-US" sz="1650" b="1" dirty="0">
                <a:solidFill>
                  <a:srgbClr val="111111"/>
                </a:solidFill>
                <a:latin typeface="Microsoft YaHei"/>
              </a:rPr>
              <a:t>后面切实跑通再扩大</a:t>
            </a:r>
            <a:endParaRPr sz="165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7680" y="6153912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 err="1">
                <a:solidFill>
                  <a:srgbClr val="6B7280"/>
                </a:solidFill>
                <a:latin typeface="Microsoft YaHei"/>
              </a:rPr>
              <a:t>不假装完美</a:t>
            </a:r>
            <a:r>
              <a:rPr sz="1300" b="0" dirty="0">
                <a:solidFill>
                  <a:srgbClr val="6B7280"/>
                </a:solidFill>
                <a:latin typeface="Microsoft YaHei"/>
              </a:rPr>
              <a:t> —— </a:t>
            </a:r>
            <a:r>
              <a:rPr sz="1300" b="0" dirty="0" err="1">
                <a:solidFill>
                  <a:srgbClr val="6B7280"/>
                </a:solidFill>
                <a:latin typeface="Microsoft YaHei"/>
              </a:rPr>
              <a:t>这些问题，我们准备一个一个回答</a:t>
            </a:r>
            <a:r>
              <a:rPr sz="1300" b="0" dirty="0">
                <a:solidFill>
                  <a:srgbClr val="6B7280"/>
                </a:solidFill>
                <a:latin typeface="Microsoft YaHei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13118" y="-1"/>
            <a:ext cx="10778881" cy="69971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" y="0"/>
            <a:ext cx="9555480" cy="6858000"/>
          </a:xfrm>
          <a:prstGeom prst="rect">
            <a:avLst/>
          </a:prstGeom>
          <a:solidFill>
            <a:srgbClr val="111111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" y="548641"/>
            <a:ext cx="7863840" cy="4206240"/>
          </a:xfrm>
          <a:prstGeom prst="rect">
            <a:avLst/>
          </a:prstGeom>
          <a:solidFill>
            <a:srgbClr val="111111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458839" y="118673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dirty="0" err="1">
                <a:solidFill>
                  <a:srgbClr val="E5E7EB"/>
                </a:solidFill>
                <a:latin typeface="Microsoft YaHei"/>
              </a:rPr>
              <a:t>我们希望解决的，不只是</a:t>
            </a:r>
            <a:endParaRPr sz="2100" b="0" dirty="0">
              <a:solidFill>
                <a:srgbClr val="E5E7EB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9585" y="17145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Microsoft YaHei"/>
              </a:rPr>
              <a:t>「</a:t>
            </a:r>
            <a:r>
              <a:rPr sz="3200" b="1" dirty="0" err="1">
                <a:solidFill>
                  <a:srgbClr val="FFFFFF"/>
                </a:solidFill>
                <a:latin typeface="Microsoft YaHei"/>
              </a:rPr>
              <a:t>漫展在哪里</a:t>
            </a:r>
            <a:r>
              <a:rPr sz="3200" b="1" dirty="0">
                <a:solidFill>
                  <a:srgbClr val="FFFFFF"/>
                </a:solidFill>
                <a:latin typeface="Microsoft YaHei"/>
              </a:rPr>
              <a:t>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8839" y="2697479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dirty="0" err="1">
                <a:solidFill>
                  <a:srgbClr val="E5E7EB"/>
                </a:solidFill>
                <a:latin typeface="Microsoft YaHei"/>
              </a:rPr>
              <a:t>而是</a:t>
            </a:r>
            <a:r>
              <a:rPr sz="2100" b="0" dirty="0">
                <a:solidFill>
                  <a:srgbClr val="E5E7EB"/>
                </a:solidFill>
                <a:latin typeface="Microsoft YaHei"/>
              </a:rPr>
              <a:t>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118" y="3223259"/>
            <a:ext cx="8961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0" dirty="0" err="1">
                <a:solidFill>
                  <a:srgbClr val="FFFFFF"/>
                </a:solidFill>
                <a:latin typeface="Microsoft YaHei"/>
              </a:rPr>
              <a:t>想去漫展的时候</a:t>
            </a:r>
            <a:r>
              <a:rPr sz="2500" b="0" dirty="0">
                <a:solidFill>
                  <a:srgbClr val="FFFFFF"/>
                </a:solidFill>
                <a:latin typeface="Microsoft YaHei"/>
              </a:rPr>
              <a:t>，</a:t>
            </a:r>
          </a:p>
          <a:p>
            <a:pPr>
              <a:spcBef>
                <a:spcPts val="400"/>
              </a:spcBef>
            </a:pPr>
            <a:r>
              <a:rPr sz="3200" b="1" dirty="0" err="1">
                <a:solidFill>
                  <a:srgbClr val="3AD6E8"/>
                </a:solidFill>
              </a:rPr>
              <a:t>为什么不能直接找到一起去的人</a:t>
            </a:r>
            <a:r>
              <a:rPr sz="3200" b="1" dirty="0">
                <a:solidFill>
                  <a:srgbClr val="3AD6E8"/>
                </a:solidFill>
              </a:rPr>
              <a:t>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8839" y="457200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dirty="0" err="1">
                <a:solidFill>
                  <a:srgbClr val="FFFFFF"/>
                </a:solidFill>
                <a:latin typeface="Microsoft YaHei"/>
              </a:rPr>
              <a:t>一起去</a:t>
            </a:r>
            <a:endParaRPr sz="6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6575" y="5625546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dirty="0" err="1">
                <a:solidFill>
                  <a:srgbClr val="E5E7EB"/>
                </a:solidFill>
                <a:latin typeface="Microsoft YaHei"/>
              </a:rPr>
              <a:t>找到同行的人，去同一个漫展</a:t>
            </a:r>
            <a:endParaRPr sz="1700" b="0" dirty="0">
              <a:solidFill>
                <a:srgbClr val="E5E7EB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552</Words>
  <Application>Microsoft Office PowerPoint</Application>
  <PresentationFormat>宽屏</PresentationFormat>
  <Paragraphs>249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绪辉 赵</cp:lastModifiedBy>
  <cp:revision>3</cp:revision>
  <dcterms:created xsi:type="dcterms:W3CDTF">2013-01-27T09:14:16Z</dcterms:created>
  <dcterms:modified xsi:type="dcterms:W3CDTF">2026-09-29T11:18:54Z</dcterms:modified>
  <cp:category/>
</cp:coreProperties>
</file>